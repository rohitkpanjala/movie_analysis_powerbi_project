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61" r:id="rId5"/>
    <p:sldId id="263" r:id="rId6"/>
    <p:sldId id="275" r:id="rId7"/>
    <p:sldId id="264" r:id="rId8"/>
    <p:sldId id="276" r:id="rId9"/>
    <p:sldId id="265" r:id="rId10"/>
    <p:sldId id="277" r:id="rId11"/>
    <p:sldId id="266" r:id="rId12"/>
    <p:sldId id="278" r:id="rId13"/>
    <p:sldId id="267" r:id="rId14"/>
    <p:sldId id="268" r:id="rId15"/>
    <p:sldId id="259" r:id="rId16"/>
    <p:sldId id="274" r:id="rId17"/>
  </p:sldIdLst>
  <p:sldSz cx="12192000" cy="6858000"/>
  <p:notesSz cx="6858000" cy="9144000"/>
  <p:embeddedFontLst>
    <p:embeddedFont>
      <p:font typeface="Calibri" panose="020F0502020204030204"/>
      <p:regular r:id="rId21"/>
      <p:bold r:id="rId22"/>
      <p:italic r:id="rId23"/>
      <p:boldItalic r:id="rId24"/>
    </p:embeddedFont>
    <p:embeddedFont>
      <p:font typeface="Libre Baskerville" panose="02000000000000000000"/>
      <p:regular r:id="rId25"/>
      <p:bold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91948" y="4743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3200" b="1" dirty="0"/>
              <a:t>Movie Analysis</a:t>
            </a:r>
            <a:endParaRPr sz="3200" b="1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Box 5"/>
          <p:cNvSpPr txBox="1"/>
          <p:nvPr/>
        </p:nvSpPr>
        <p:spPr>
          <a:xfrm>
            <a:off x="8200547" y="5428102"/>
            <a:ext cx="21153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solidFill>
                  <a:srgbClr val="FF0000"/>
                </a:solidFill>
                <a:latin typeface="Aptos Display" panose="020B0004020202020204" pitchFamily="34" charset="0"/>
              </a:rPr>
              <a:t>PRESENTED BY :</a:t>
            </a:r>
            <a:endParaRPr lang="en-IN" b="1" dirty="0">
              <a:solidFill>
                <a:srgbClr val="FF0000"/>
              </a:solidFill>
              <a:latin typeface="Aptos Display" panose="020B0004020202020204" pitchFamily="34" charset="0"/>
            </a:endParaRPr>
          </a:p>
          <a:p>
            <a:r>
              <a:rPr lang="en-IN" b="1" dirty="0" err="1">
                <a:latin typeface="Aptos Display" panose="020B0004020202020204" pitchFamily="34" charset="0"/>
              </a:rPr>
              <a:t>Panjala</a:t>
            </a:r>
            <a:r>
              <a:rPr lang="en-IN" b="1" dirty="0">
                <a:latin typeface="Aptos Display" panose="020B0004020202020204" pitchFamily="34" charset="0"/>
              </a:rPr>
              <a:t> Rohit </a:t>
            </a:r>
            <a:br>
              <a:rPr lang="en-IN" b="1" dirty="0">
                <a:latin typeface="Aptos Display" panose="020B0004020202020204" pitchFamily="34" charset="0"/>
              </a:rPr>
            </a:br>
            <a:r>
              <a:rPr lang="en-IN" b="1" dirty="0">
                <a:latin typeface="Aptos Display" panose="020B0004020202020204" pitchFamily="34" charset="0"/>
              </a:rPr>
              <a:t>Nunna Siva Nihanth</a:t>
            </a:r>
            <a:endParaRPr lang="en-IN" b="1" dirty="0">
              <a:latin typeface="Aptos Display" panose="020B0004020202020204" pitchFamily="34" charset="0"/>
            </a:endParaRPr>
          </a:p>
          <a:p>
            <a:r>
              <a:rPr lang="en-IN" b="1" dirty="0">
                <a:solidFill>
                  <a:srgbClr val="FF0000"/>
                </a:solidFill>
                <a:latin typeface="Aptos Display" panose="020B0004020202020204" pitchFamily="34" charset="0"/>
              </a:rPr>
              <a:t>BATCH NO </a:t>
            </a:r>
            <a:r>
              <a:rPr lang="en-IN" b="1" dirty="0">
                <a:latin typeface="Aptos Display" panose="020B0004020202020204" pitchFamily="34" charset="0"/>
              </a:rPr>
              <a:t>: 493</a:t>
            </a:r>
            <a:endParaRPr lang="en-IN" b="1" dirty="0">
              <a:latin typeface="Aptos Display" panose="020B0004020202020204" pitchFamily="34" charset="0"/>
            </a:endParaRPr>
          </a:p>
          <a:p>
            <a:endParaRPr lang="en-IN" b="1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9817" y="31414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216113" y="1049866"/>
            <a:ext cx="5655733" cy="35644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movie industry data to identify revenue trends, audience preferences, and genre performance.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problem: Production companies struggle to identify factors affecting movie success and profitability.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Build an interactive dashboard for data-driven decision making.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/>
        </p:nvSpPr>
        <p:spPr>
          <a:xfrm>
            <a:off x="313268" y="135468"/>
            <a:ext cx="8873066" cy="922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200" b="1" dirty="0">
                <a:solidFill>
                  <a:srgbClr val="FF0000"/>
                </a:solidFill>
              </a:rPr>
              <a:t>Dashboard 1 – Movie Overview &amp; Time Trends</a:t>
            </a:r>
            <a:r>
              <a:rPr lang="en-IN" sz="3200" b="1" dirty="0">
                <a:solidFill>
                  <a:srgbClr val="FF0000"/>
                </a:solidFill>
              </a:rPr>
              <a:t>-------------------------------</a:t>
            </a:r>
            <a:endParaRPr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194734" y="1117601"/>
            <a:ext cx="7154333" cy="4783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 included: Total Movies, Total Revenue, Avg IMDb Rating, Avg Runtime.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Visuals show yearly movie releases, revenue growth, runtime trends, and rating trends.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Movie releases and revenue increased significantly over time.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267"/>
            <a:ext cx="12291494" cy="6798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/>
        </p:nvSpPr>
        <p:spPr>
          <a:xfrm>
            <a:off x="245535" y="93133"/>
            <a:ext cx="8661401" cy="787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200" b="1" dirty="0">
                <a:solidFill>
                  <a:srgbClr val="FF0000"/>
                </a:solidFill>
              </a:rPr>
              <a:t>Dashboard 2 – Genre &amp; Rating Analysis</a:t>
            </a:r>
            <a:endParaRPr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245535" y="880533"/>
            <a:ext cx="6485465" cy="294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movie distribution across genres.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genre-wise revenue, ratings, votes, and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metascores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Action and Adventure genres generated high revenue while Drama received higher ratings.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5533"/>
            <a:ext cx="12152842" cy="7018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/>
        </p:nvSpPr>
        <p:spPr>
          <a:xfrm>
            <a:off x="-84668" y="287867"/>
            <a:ext cx="9482667" cy="8551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200" b="1" dirty="0">
                <a:solidFill>
                  <a:srgbClr val="FF0000"/>
                </a:solidFill>
              </a:rPr>
              <a:t>Dashboard 3 – Top </a:t>
            </a:r>
            <a:r>
              <a:rPr sz="3500" b="1" dirty="0">
                <a:solidFill>
                  <a:srgbClr val="FF0000"/>
                </a:solidFill>
              </a:rPr>
              <a:t>Performers</a:t>
            </a:r>
            <a:r>
              <a:rPr sz="3200" b="1" dirty="0">
                <a:solidFill>
                  <a:srgbClr val="FF0000"/>
                </a:solidFill>
              </a:rPr>
              <a:t> &amp; Box Office Insights</a:t>
            </a:r>
            <a:endParaRPr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177800" y="1271852"/>
            <a:ext cx="5571067" cy="2758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top directors and movies based on revenue and votes.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plots used to compare ratings vs revenue.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A few blockbuster movies contribute major revenue share.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4071" y="-1"/>
            <a:ext cx="1229918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/>
        </p:nvSpPr>
        <p:spPr>
          <a:xfrm>
            <a:off x="76200" y="313267"/>
            <a:ext cx="9728199" cy="7027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200" b="1" dirty="0">
                <a:solidFill>
                  <a:srgbClr val="FF0000"/>
                </a:solidFill>
              </a:rPr>
              <a:t>Dashboard 4 – Correlation &amp; Advanced Metrics</a:t>
            </a:r>
            <a:endParaRPr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76201" y="1166018"/>
            <a:ext cx="5427132" cy="27794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relationships between revenue, ratings, runtime, and votes.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revenue trends by genre and year.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Higher audience engagement often leads to higher revenue.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6"/>
            <a:ext cx="12039600" cy="6751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/>
        </p:nvSpPr>
        <p:spPr>
          <a:xfrm>
            <a:off x="76199" y="321734"/>
            <a:ext cx="4995334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200" b="1" dirty="0">
                <a:solidFill>
                  <a:srgbClr val="FF0000"/>
                </a:solidFill>
              </a:rPr>
              <a:t>Key Business Insights</a:t>
            </a:r>
            <a:endParaRPr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76200" y="1106753"/>
            <a:ext cx="6493934" cy="23222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Audience votes strongly influence movie popularity.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directors consistently perform better.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and revenue show a partial positive correlation.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 trends change over time based on audience preference.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/>
        </p:nvSpPr>
        <p:spPr>
          <a:xfrm>
            <a:off x="279401" y="347132"/>
            <a:ext cx="6612466" cy="588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200" b="1" dirty="0">
                <a:solidFill>
                  <a:srgbClr val="FF0000"/>
                </a:solidFill>
              </a:rPr>
              <a:t>Recommendations &amp; Challenges</a:t>
            </a:r>
            <a:endParaRPr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101600" y="1045632"/>
            <a:ext cx="5604933" cy="244263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 Invest in high-performing genres and audience-focused marketing.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analytics for content planning and investment decisions.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 Data cleaning, KPI creation, and dashboard interactivity management.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 panose="02000000000000000000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 panose="02000000000000000000"/>
                <a:ea typeface="Libre Baskerville" panose="02000000000000000000"/>
                <a:cs typeface="Libre Baskerville" panose="02000000000000000000"/>
                <a:sym typeface="Libre Baskerville" panose="02000000000000000000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1844</Words>
  <Application>WPS Presentation</Application>
  <PresentationFormat>Widescreen</PresentationFormat>
  <Paragraphs>52</Paragraphs>
  <Slides>14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Arial</vt:lpstr>
      <vt:lpstr>Calibri</vt:lpstr>
      <vt:lpstr>Aptos Display</vt:lpstr>
      <vt:lpstr>Segoe UI Variable Display</vt:lpstr>
      <vt:lpstr>Times New Roman</vt:lpstr>
      <vt:lpstr>Libre Baskerville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Ram Aduri</dc:creator>
  <cp:lastModifiedBy>rohit</cp:lastModifiedBy>
  <cp:revision>7</cp:revision>
  <dcterms:created xsi:type="dcterms:W3CDTF">2021-02-16T05:19:00Z</dcterms:created>
  <dcterms:modified xsi:type="dcterms:W3CDTF">2026-05-16T04:34:09Z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58EA4E731EA04D549C7F613B1A6A5599_12</vt:lpwstr>
  </property>
  <property fmtid="{D5CDD505-2E9C-101B-9397-08002B2CF9AE}" pid="3" name="KSOProductBuildVer">
    <vt:lpwstr>1033-12.1.0.26372</vt:lpwstr>
  </property>
</Properties>
</file>